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a3f49d4-f850-9feb-52a8-f0f0fc015a91}">
          <p14:sldIdLst>
            <p14:sldId id="256"/>
            <p14:sldId id="257"/>
            <p14:sldId id="258"/>
            <p14:sldId id="259"/>
          </p14:sldIdLst>
        </p14:section>
        <p14:section name="Query Analysis" id="{35b90b7a-e67c-ed5b-f7f6-3d75c8b0c5d0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Wrap-up" id="{777ca4f4-f41f-7282-786f-874e5fdaa7d0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F3A"/>
                </a:solidFill>
                <a:latin typeface="+mn-lt"/>
              </a:rPr>
              <a:t>Queries per concept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Queries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Filtering and operators</c:v>
                  </c:pt>
                  <c:pt idx="1">
                    <c:v>String and NULL functions</c:v>
                  </c:pt>
                  <c:pt idx="2">
                    <c:v>Joins and set operations</c:v>
                  </c:pt>
                  <c:pt idx="3">
                    <c:v>Aggregate functions</c:v>
                  </c:pt>
                  <c:pt idx="4">
                    <c:v>GROUP BY and HAVING</c:v>
                  </c:pt>
                  <c:pt idx="5">
                    <c:v>Date logic and derived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5</c:v>
                </c:pt>
                <c:pt idx="2">
                  <c:v>4</c:v>
                </c:pt>
                <c:pt idx="3">
                  <c:v>6</c:v>
                </c:pt>
                <c:pt idx="4">
                  <c:v>7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F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hospital database with four tables, 34 problem statements from the brief, answered with 33 SQL queries (Q21 and Q22 are identical).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filtering, string and NULL handling, joins, aggregation, grouping, date logic and derived calculations. Problem statements 21 and 22 are the same, so one query covers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patients is linked to province_names, admissions links patients to doctors. The admissions table is the bridge for diagnosis and attending doctor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query followed the same four steps. Queries are grouped into six categories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queries: Q1, Q2, Q3, Q4, Q10, Q14, Q15, Q27. Highlight IS NULL for missing values and the half-open date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 uses COALESCE in a SELECT. The brief asks for an UPDATE, so mention the UPDATE equivalent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Q34 is the three-table join. Note the doctors column is spelled speciality in the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Q8 uses YEAR(birth_date) = 2010 with COUNT. Q30 is MAX(weight) - MIN(weight) for last name Maroni.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queries: Q17, Q23, Q24, Q26, Q29, Q31, Q32. Stress that WHERE cannot filter on aggregates, so HAVING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Q33 follows the brief: weight in kg, height in cm converted to metres, obese when BMI is at least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Counts: filtering 8, string and NULL 5, joins and sets 4, aggregates 6, group by and having 7, date and derived 3. Total 33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mention that Q21 and Q22 are duplicates in the brief, and that Q8 applies YEAR() to a column, so a date range scales better on large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takeaways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SQL PROJECT  |  MYSQL</a:t>
            </a:r>
            <a:endParaRPr lang="en-US" sz="1400" dirty="0"/>
          </a:p>
        </p:txBody>
      </p:sp>
      <p:sp>
        <p:nvSpPr>
          <p:cNvPr id="3" name="Presenter"/>
          <p:cNvSpPr txBox="1"/>
          <p:nvPr/>
        </p:nvSpPr>
        <p:spPr>
          <a:xfrm>
            <a:off x="548640" y="41148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N. Gokul Aadesh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Batch: 8-JUN-26-CDA-BUN-040-WDM1130-BAN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3258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Medical Data History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063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SQL analysis of a hospital database: 34 problem statements answered with 33 queries</a:t>
            </a:r>
            <a:endParaRPr lang="en-US" sz="1800" dirty="0"/>
          </a:p>
        </p:txBody>
      </p:sp>
      <p:sp>
        <p:nvSpPr>
          <p:cNvPr id="6" name="Hero circle"/>
          <p:cNvSpPr/>
          <p:nvPr/>
        </p:nvSpPr>
        <p:spPr>
          <a:xfrm>
            <a:off x="5943600" y="914400"/>
            <a:ext cx="2834640" cy="2834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Database icon" descr="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737360"/>
            <a:ext cx="1188720" cy="1188720"/>
          </a:xfrm>
          <a:prstGeom prst="rect">
            <a:avLst/>
          </a:prstGeom>
        </p:spPr>
      </p:pic>
      <p:sp>
        <p:nvSpPr>
          <p:cNvPr id="8" name="Doctor circle"/>
          <p:cNvSpPr/>
          <p:nvPr/>
        </p:nvSpPr>
        <p:spPr>
          <a:xfrm>
            <a:off x="5577840" y="3246120"/>
            <a:ext cx="1097280" cy="10972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Doctor icon" descr="Doc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3566160"/>
            <a:ext cx="457200" cy="457200"/>
          </a:xfrm>
          <a:prstGeom prst="rect">
            <a:avLst/>
          </a:prstGeom>
        </p:spPr>
      </p:pic>
      <p:sp>
        <p:nvSpPr>
          <p:cNvPr id="10" name="Records circle"/>
          <p:cNvSpPr/>
          <p:nvPr/>
        </p:nvSpPr>
        <p:spPr>
          <a:xfrm>
            <a:off x="7818120" y="342900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Records icon" descr="Medical recor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6576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Project Objective and Scope</a:t>
            </a:r>
            <a:endParaRPr lang="en-US" sz="3200" dirty="0"/>
          </a:p>
        </p:txBody>
      </p:sp>
      <p:sp>
        <p:nvSpPr>
          <p:cNvPr id="3" name="Objective statement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Turn raw patient, admission and doctor records into answers with accurate SQL.</a:t>
            </a:r>
            <a:endParaRPr lang="en-US" sz="1800" dirty="0"/>
          </a:p>
        </p:txBody>
      </p:sp>
      <p:sp>
        <p:nvSpPr>
          <p:cNvPr id="4" name="Stat card 1"/>
          <p:cNvSpPr/>
          <p:nvPr/>
        </p:nvSpPr>
        <p:spPr>
          <a:xfrm>
            <a:off x="457200" y="18288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1 circle"/>
          <p:cNvSpPr/>
          <p:nvPr/>
        </p:nvSpPr>
        <p:spPr>
          <a:xfrm>
            <a:off x="594360" y="2011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tat 1 icon" descr="Sta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" y="2165299"/>
            <a:ext cx="241402" cy="241402"/>
          </a:xfrm>
          <a:prstGeom prst="rect">
            <a:avLst/>
          </a:prstGeom>
        </p:spPr>
      </p:pic>
      <p:sp>
        <p:nvSpPr>
          <p:cNvPr id="7" name="Stat value 1"/>
          <p:cNvSpPr txBox="1"/>
          <p:nvPr/>
        </p:nvSpPr>
        <p:spPr>
          <a:xfrm>
            <a:off x="59436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4</a:t>
            </a:r>
            <a:endParaRPr lang="en-US" sz="5400" dirty="0"/>
          </a:p>
        </p:txBody>
      </p:sp>
      <p:sp>
        <p:nvSpPr>
          <p:cNvPr id="8" name="Stat label 1"/>
          <p:cNvSpPr txBox="1"/>
          <p:nvPr/>
        </p:nvSpPr>
        <p:spPr>
          <a:xfrm>
            <a:off x="59436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tables in the database</a:t>
            </a:r>
            <a:endParaRPr lang="en-US" sz="1400" dirty="0"/>
          </a:p>
        </p:txBody>
      </p:sp>
      <p:sp>
        <p:nvSpPr>
          <p:cNvPr id="9" name="Stat card 2"/>
          <p:cNvSpPr/>
          <p:nvPr/>
        </p:nvSpPr>
        <p:spPr>
          <a:xfrm>
            <a:off x="2560320" y="18288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2 circle"/>
          <p:cNvSpPr/>
          <p:nvPr/>
        </p:nvSpPr>
        <p:spPr>
          <a:xfrm>
            <a:off x="2697480" y="2011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tat 2 icon" descr="Sta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099" y="2165299"/>
            <a:ext cx="241402" cy="241402"/>
          </a:xfrm>
          <a:prstGeom prst="rect">
            <a:avLst/>
          </a:prstGeom>
        </p:spPr>
      </p:pic>
      <p:sp>
        <p:nvSpPr>
          <p:cNvPr id="12" name="Stat value 2"/>
          <p:cNvSpPr txBox="1"/>
          <p:nvPr/>
        </p:nvSpPr>
        <p:spPr>
          <a:xfrm>
            <a:off x="269748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34</a:t>
            </a:r>
            <a:endParaRPr lang="en-US" sz="5400" dirty="0"/>
          </a:p>
        </p:txBody>
      </p:sp>
      <p:sp>
        <p:nvSpPr>
          <p:cNvPr id="13" name="Stat label 2"/>
          <p:cNvSpPr txBox="1"/>
          <p:nvPr/>
        </p:nvSpPr>
        <p:spPr>
          <a:xfrm>
            <a:off x="269748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problem statements</a:t>
            </a:r>
            <a:endParaRPr lang="en-US" sz="1400" dirty="0"/>
          </a:p>
        </p:txBody>
      </p:sp>
      <p:sp>
        <p:nvSpPr>
          <p:cNvPr id="14" name="Stat card 3"/>
          <p:cNvSpPr/>
          <p:nvPr/>
        </p:nvSpPr>
        <p:spPr>
          <a:xfrm>
            <a:off x="4663440" y="18288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tat 3 circle"/>
          <p:cNvSpPr/>
          <p:nvPr/>
        </p:nvSpPr>
        <p:spPr>
          <a:xfrm>
            <a:off x="4800600" y="2011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Stat 3 icon" descr="Stat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219" y="2165299"/>
            <a:ext cx="241402" cy="241402"/>
          </a:xfrm>
          <a:prstGeom prst="rect">
            <a:avLst/>
          </a:prstGeom>
        </p:spPr>
      </p:pic>
      <p:sp>
        <p:nvSpPr>
          <p:cNvPr id="17" name="Stat value 3"/>
          <p:cNvSpPr txBox="1"/>
          <p:nvPr/>
        </p:nvSpPr>
        <p:spPr>
          <a:xfrm>
            <a:off x="480060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33</a:t>
            </a:r>
            <a:endParaRPr lang="en-US" sz="5400" dirty="0"/>
          </a:p>
        </p:txBody>
      </p:sp>
      <p:sp>
        <p:nvSpPr>
          <p:cNvPr id="18" name="Stat label 3"/>
          <p:cNvSpPr txBox="1"/>
          <p:nvPr/>
        </p:nvSpPr>
        <p:spPr>
          <a:xfrm>
            <a:off x="480060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queries written</a:t>
            </a:r>
            <a:endParaRPr lang="en-US" sz="1400" dirty="0"/>
          </a:p>
        </p:txBody>
      </p:sp>
      <p:sp>
        <p:nvSpPr>
          <p:cNvPr id="19" name="Stat card 4"/>
          <p:cNvSpPr/>
          <p:nvPr/>
        </p:nvSpPr>
        <p:spPr>
          <a:xfrm>
            <a:off x="6766560" y="18288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at 4 circle"/>
          <p:cNvSpPr/>
          <p:nvPr/>
        </p:nvSpPr>
        <p:spPr>
          <a:xfrm>
            <a:off x="6903720" y="2011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Stat 4 icon" descr="Stat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7339" y="2165299"/>
            <a:ext cx="241402" cy="241402"/>
          </a:xfrm>
          <a:prstGeom prst="rect">
            <a:avLst/>
          </a:prstGeom>
        </p:spPr>
      </p:pic>
      <p:sp>
        <p:nvSpPr>
          <p:cNvPr id="22" name="Stat value 4"/>
          <p:cNvSpPr txBox="1"/>
          <p:nvPr/>
        </p:nvSpPr>
        <p:spPr>
          <a:xfrm>
            <a:off x="6903720" y="2697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6</a:t>
            </a:r>
            <a:endParaRPr lang="en-US" sz="5400" dirty="0"/>
          </a:p>
        </p:txBody>
      </p:sp>
      <p:sp>
        <p:nvSpPr>
          <p:cNvPr id="23" name="Stat label 4"/>
          <p:cNvSpPr txBox="1"/>
          <p:nvPr/>
        </p:nvSpPr>
        <p:spPr>
          <a:xfrm>
            <a:off x="690372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SQL concept groups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Database Schema</a:t>
            </a:r>
            <a:endParaRPr lang="en-US" sz="3200" dirty="0"/>
          </a:p>
        </p:txBody>
      </p:sp>
      <p:sp>
        <p:nvSpPr>
          <p:cNvPr id="3" name="doctors header"/>
          <p:cNvSpPr/>
          <p:nvPr/>
        </p:nvSpPr>
        <p:spPr>
          <a:xfrm>
            <a:off x="457200" y="1188720"/>
            <a:ext cx="219456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doctors title"/>
          <p:cNvSpPr txBox="1"/>
          <p:nvPr/>
        </p:nvSpPr>
        <p:spPr>
          <a:xfrm>
            <a:off x="54864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doctors</a:t>
            </a:r>
            <a:endParaRPr lang="en-US" sz="1400" dirty="0"/>
          </a:p>
        </p:txBody>
      </p:sp>
      <p:sp>
        <p:nvSpPr>
          <p:cNvPr id="5" name="doctors body"/>
          <p:cNvSpPr/>
          <p:nvPr/>
        </p:nvSpPr>
        <p:spPr>
          <a:xfrm>
            <a:off x="457200" y="1508760"/>
            <a:ext cx="219456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octors columns"/>
          <p:cNvSpPr txBox="1"/>
          <p:nvPr/>
        </p:nvSpPr>
        <p:spPr>
          <a:xfrm>
            <a:off x="548640" y="1554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doctor_id (PK)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first_name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last_name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speciality</a:t>
            </a:r>
            <a:endParaRPr lang="en-US" sz="1100" dirty="0"/>
          </a:p>
        </p:txBody>
      </p:sp>
      <p:sp>
        <p:nvSpPr>
          <p:cNvPr id="7" name="admissions header"/>
          <p:cNvSpPr/>
          <p:nvPr/>
        </p:nvSpPr>
        <p:spPr>
          <a:xfrm>
            <a:off x="3566160" y="1188720"/>
            <a:ext cx="219456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admissions title"/>
          <p:cNvSpPr txBox="1"/>
          <p:nvPr/>
        </p:nvSpPr>
        <p:spPr>
          <a:xfrm>
            <a:off x="365760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admissions</a:t>
            </a:r>
            <a:endParaRPr lang="en-US" sz="1400" dirty="0"/>
          </a:p>
        </p:txBody>
      </p:sp>
      <p:sp>
        <p:nvSpPr>
          <p:cNvPr id="9" name="admissions body"/>
          <p:cNvSpPr/>
          <p:nvPr/>
        </p:nvSpPr>
        <p:spPr>
          <a:xfrm>
            <a:off x="3566160" y="1508760"/>
            <a:ext cx="2194560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dmissions columns"/>
          <p:cNvSpPr txBox="1"/>
          <p:nvPr/>
        </p:nvSpPr>
        <p:spPr>
          <a:xfrm>
            <a:off x="3657600" y="1554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patient_id (FK)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admission_date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discharge_date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diagnosis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attending_doctor_id (FK)</a:t>
            </a:r>
            <a:endParaRPr lang="en-US" sz="1100" dirty="0"/>
          </a:p>
        </p:txBody>
      </p:sp>
      <p:sp>
        <p:nvSpPr>
          <p:cNvPr id="11" name="patients header"/>
          <p:cNvSpPr/>
          <p:nvPr/>
        </p:nvSpPr>
        <p:spPr>
          <a:xfrm>
            <a:off x="6492240" y="1188720"/>
            <a:ext cx="219456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atients title"/>
          <p:cNvSpPr txBox="1"/>
          <p:nvPr/>
        </p:nvSpPr>
        <p:spPr>
          <a:xfrm>
            <a:off x="658368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patients</a:t>
            </a:r>
            <a:endParaRPr lang="en-US" sz="1400" dirty="0"/>
          </a:p>
        </p:txBody>
      </p:sp>
      <p:sp>
        <p:nvSpPr>
          <p:cNvPr id="13" name="patients body"/>
          <p:cNvSpPr/>
          <p:nvPr/>
        </p:nvSpPr>
        <p:spPr>
          <a:xfrm>
            <a:off x="6492240" y="1508760"/>
            <a:ext cx="21945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tients columns"/>
          <p:cNvSpPr txBox="1"/>
          <p:nvPr/>
        </p:nvSpPr>
        <p:spPr>
          <a:xfrm>
            <a:off x="6583680" y="155448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patient_id (PK)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first_name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last_name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gender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birth_date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city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allergies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height (cm)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weight (kg)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province_id (FK)</a:t>
            </a:r>
            <a:endParaRPr lang="en-US" sz="1100" dirty="0"/>
          </a:p>
        </p:txBody>
      </p:sp>
      <p:sp>
        <p:nvSpPr>
          <p:cNvPr id="15" name="province_names header"/>
          <p:cNvSpPr/>
          <p:nvPr/>
        </p:nvSpPr>
        <p:spPr>
          <a:xfrm>
            <a:off x="6492240" y="3794760"/>
            <a:ext cx="2194560" cy="320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rovince_names title"/>
          <p:cNvSpPr txBox="1"/>
          <p:nvPr/>
        </p:nvSpPr>
        <p:spPr>
          <a:xfrm>
            <a:off x="658368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province_names</a:t>
            </a:r>
            <a:endParaRPr lang="en-US" sz="1400" dirty="0"/>
          </a:p>
        </p:txBody>
      </p:sp>
      <p:sp>
        <p:nvSpPr>
          <p:cNvPr id="17" name="province_names body"/>
          <p:cNvSpPr/>
          <p:nvPr/>
        </p:nvSpPr>
        <p:spPr>
          <a:xfrm>
            <a:off x="6492240" y="4114800"/>
            <a:ext cx="219456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rovince_names columns"/>
          <p:cNvSpPr txBox="1"/>
          <p:nvPr/>
        </p:nvSpPr>
        <p:spPr>
          <a:xfrm>
            <a:off x="658368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province_id (PK)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province_name</a:t>
            </a:r>
            <a:endParaRPr lang="en-US" sz="1100" dirty="0"/>
          </a:p>
        </p:txBody>
      </p:sp>
      <p:sp>
        <p:nvSpPr>
          <p:cNvPr id="19" name="Link doctors-admissions"/>
          <p:cNvSpPr/>
          <p:nvPr/>
        </p:nvSpPr>
        <p:spPr>
          <a:xfrm>
            <a:off x="2651760" y="1828800"/>
            <a:ext cx="9144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20" name="Label doctor_id"/>
          <p:cNvSpPr txBox="1"/>
          <p:nvPr/>
        </p:nvSpPr>
        <p:spPr>
          <a:xfrm>
            <a:off x="2651760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doctor_id</a:t>
            </a:r>
            <a:endParaRPr lang="en-US" sz="1000" dirty="0"/>
          </a:p>
        </p:txBody>
      </p:sp>
      <p:sp>
        <p:nvSpPr>
          <p:cNvPr id="21" name="Link admissions-patients"/>
          <p:cNvSpPr/>
          <p:nvPr/>
        </p:nvSpPr>
        <p:spPr>
          <a:xfrm>
            <a:off x="5760720" y="1828800"/>
            <a:ext cx="7315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22" name="Label patient_id"/>
          <p:cNvSpPr txBox="1"/>
          <p:nvPr/>
        </p:nvSpPr>
        <p:spPr>
          <a:xfrm>
            <a:off x="5760720" y="1554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patient_id</a:t>
            </a:r>
            <a:endParaRPr lang="en-US" sz="1000" dirty="0"/>
          </a:p>
        </p:txBody>
      </p:sp>
      <p:sp>
        <p:nvSpPr>
          <p:cNvPr id="23" name="Link patients-province"/>
          <p:cNvSpPr/>
          <p:nvPr/>
        </p:nvSpPr>
        <p:spPr>
          <a:xfrm>
            <a:off x="7589520" y="3520440"/>
            <a:ext cx="0" cy="2743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24" name="Label province_id"/>
          <p:cNvSpPr txBox="1"/>
          <p:nvPr/>
        </p:nvSpPr>
        <p:spPr>
          <a:xfrm>
            <a:off x="7680960" y="3547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province_id</a:t>
            </a:r>
            <a:endParaRPr lang="en-US" sz="1000" dirty="0"/>
          </a:p>
        </p:txBody>
      </p:sp>
      <p:sp>
        <p:nvSpPr>
          <p:cNvPr id="25" name="Relationships card"/>
          <p:cNvSpPr/>
          <p:nvPr/>
        </p:nvSpPr>
        <p:spPr>
          <a:xfrm>
            <a:off x="457200" y="3246120"/>
            <a:ext cx="55778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Relationships text"/>
          <p:cNvSpPr txBox="1"/>
          <p:nvPr/>
        </p:nvSpPr>
        <p:spPr>
          <a:xfrm>
            <a:off x="640080" y="33375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How the tables connect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patients to province_names on province_id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admissions to patients on patient_id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admissions to doctors on attending_doctor_id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Approach</a:t>
            </a:r>
            <a:endParaRPr lang="en-US" sz="3200" dirty="0"/>
          </a:p>
        </p:txBody>
      </p:sp>
      <p:sp>
        <p:nvSpPr>
          <p:cNvPr id="3" name="Process line"/>
          <p:cNvSpPr/>
          <p:nvPr/>
        </p:nvSpPr>
        <p:spPr>
          <a:xfrm>
            <a:off x="1143000" y="1691640"/>
            <a:ext cx="68580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4" name="Step 1 circle"/>
          <p:cNvSpPr/>
          <p:nvPr/>
        </p:nvSpPr>
        <p:spPr>
          <a:xfrm>
            <a:off x="1097280" y="1325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ep 1 icon" descr="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2106" y="1530706"/>
            <a:ext cx="321869" cy="321869"/>
          </a:xfrm>
          <a:prstGeom prst="rect">
            <a:avLst/>
          </a:prstGeom>
        </p:spPr>
      </p:pic>
      <p:sp>
        <p:nvSpPr>
          <p:cNvPr id="6" name="Step card 1"/>
          <p:cNvSpPr/>
          <p:nvPr/>
        </p:nvSpPr>
        <p:spPr>
          <a:xfrm>
            <a:off x="457200" y="22860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ep title 1"/>
          <p:cNvSpPr txBox="1"/>
          <p:nvPr/>
        </p:nvSpPr>
        <p:spPr>
          <a:xfrm>
            <a:off x="59436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Understand</a:t>
            </a:r>
            <a:endParaRPr lang="en-US" sz="1800" dirty="0"/>
          </a:p>
        </p:txBody>
      </p:sp>
      <p:sp>
        <p:nvSpPr>
          <p:cNvPr id="8" name="Step text 1"/>
          <p:cNvSpPr txBox="1"/>
          <p:nvPr/>
        </p:nvSpPr>
        <p:spPr>
          <a:xfrm>
            <a:off x="594360" y="28803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requirement and find the tables and columns involved.</a:t>
            </a:r>
            <a:endParaRPr lang="en-US" sz="1400" dirty="0"/>
          </a:p>
        </p:txBody>
      </p:sp>
      <p:sp>
        <p:nvSpPr>
          <p:cNvPr id="9" name="Step 2 circle"/>
          <p:cNvSpPr/>
          <p:nvPr/>
        </p:nvSpPr>
        <p:spPr>
          <a:xfrm>
            <a:off x="3200400" y="1325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tep 2 icon" descr="Ste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226" y="1530706"/>
            <a:ext cx="321869" cy="321869"/>
          </a:xfrm>
          <a:prstGeom prst="rect">
            <a:avLst/>
          </a:prstGeom>
        </p:spPr>
      </p:pic>
      <p:sp>
        <p:nvSpPr>
          <p:cNvPr id="11" name="Step card 2"/>
          <p:cNvSpPr/>
          <p:nvPr/>
        </p:nvSpPr>
        <p:spPr>
          <a:xfrm>
            <a:off x="2560320" y="22860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ep title 2"/>
          <p:cNvSpPr txBox="1"/>
          <p:nvPr/>
        </p:nvSpPr>
        <p:spPr>
          <a:xfrm>
            <a:off x="269748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2. Write</a:t>
            </a:r>
            <a:endParaRPr lang="en-US" sz="1800" dirty="0"/>
          </a:p>
        </p:txBody>
      </p:sp>
      <p:sp>
        <p:nvSpPr>
          <p:cNvPr id="13" name="Step text 2"/>
          <p:cNvSpPr txBox="1"/>
          <p:nvPr/>
        </p:nvSpPr>
        <p:spPr>
          <a:xfrm>
            <a:off x="2697480" y="28803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the right SQL feature and write clean, aliased queries.</a:t>
            </a:r>
            <a:endParaRPr lang="en-US" sz="1400" dirty="0"/>
          </a:p>
        </p:txBody>
      </p:sp>
      <p:sp>
        <p:nvSpPr>
          <p:cNvPr id="14" name="Step 3 circle"/>
          <p:cNvSpPr/>
          <p:nvPr/>
        </p:nvSpPr>
        <p:spPr>
          <a:xfrm>
            <a:off x="5303520" y="1325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Step 3 icon" descr="Ste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346" y="1530706"/>
            <a:ext cx="321869" cy="321869"/>
          </a:xfrm>
          <a:prstGeom prst="rect">
            <a:avLst/>
          </a:prstGeom>
        </p:spPr>
      </p:pic>
      <p:sp>
        <p:nvSpPr>
          <p:cNvPr id="16" name="Step card 3"/>
          <p:cNvSpPr/>
          <p:nvPr/>
        </p:nvSpPr>
        <p:spPr>
          <a:xfrm>
            <a:off x="4663440" y="22860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tep title 3"/>
          <p:cNvSpPr txBox="1"/>
          <p:nvPr/>
        </p:nvSpPr>
        <p:spPr>
          <a:xfrm>
            <a:off x="480060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3. Validate</a:t>
            </a:r>
            <a:endParaRPr lang="en-US" sz="1800" dirty="0"/>
          </a:p>
        </p:txBody>
      </p:sp>
      <p:sp>
        <p:nvSpPr>
          <p:cNvPr id="18" name="Step text 3"/>
          <p:cNvSpPr txBox="1"/>
          <p:nvPr/>
        </p:nvSpPr>
        <p:spPr>
          <a:xfrm>
            <a:off x="4800600" y="28803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NULLs, inclusive ranges and join keys.</a:t>
            </a:r>
            <a:endParaRPr lang="en-US" sz="1400" dirty="0"/>
          </a:p>
        </p:txBody>
      </p:sp>
      <p:sp>
        <p:nvSpPr>
          <p:cNvPr id="19" name="Step 4 circle"/>
          <p:cNvSpPr/>
          <p:nvPr/>
        </p:nvSpPr>
        <p:spPr>
          <a:xfrm>
            <a:off x="7406640" y="1325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tep 4 icon" descr="Ste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466" y="1530706"/>
            <a:ext cx="321869" cy="321869"/>
          </a:xfrm>
          <a:prstGeom prst="rect">
            <a:avLst/>
          </a:prstGeom>
        </p:spPr>
      </p:pic>
      <p:sp>
        <p:nvSpPr>
          <p:cNvPr id="21" name="Step card 4"/>
          <p:cNvSpPr/>
          <p:nvPr/>
        </p:nvSpPr>
        <p:spPr>
          <a:xfrm>
            <a:off x="6766560" y="228600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 title 4"/>
          <p:cNvSpPr txBox="1"/>
          <p:nvPr/>
        </p:nvSpPr>
        <p:spPr>
          <a:xfrm>
            <a:off x="690372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4. Document</a:t>
            </a:r>
            <a:endParaRPr lang="en-US" sz="1800" dirty="0"/>
          </a:p>
        </p:txBody>
      </p:sp>
      <p:sp>
        <p:nvSpPr>
          <p:cNvPr id="23" name="Step text 4"/>
          <p:cNvSpPr txBox="1"/>
          <p:nvPr/>
        </p:nvSpPr>
        <p:spPr>
          <a:xfrm>
            <a:off x="6903720" y="28803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Group queries by concept and explain the logic.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A. Filtering and Operators</a:t>
            </a:r>
            <a:endParaRPr lang="en-US" sz="3200" dirty="0"/>
          </a:p>
        </p:txBody>
      </p:sp>
      <p:sp>
        <p:nvSpPr>
          <p:cNvPr id="3" name="Filtering summary card"/>
          <p:cNvSpPr/>
          <p:nvPr/>
        </p:nvSpPr>
        <p:spPr>
          <a:xfrm>
            <a:off x="457200" y="1188720"/>
            <a:ext cx="3383280" cy="3355848"/>
          </a:xfrm>
          <a:prstGeom prst="roundRect">
            <a:avLst>
              <a:gd name="adj" fmla="val 21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iltering list"/>
          <p:cNvSpPr txBox="1"/>
          <p:nvPr/>
        </p:nvSpPr>
        <p:spPr>
          <a:xfrm>
            <a:off x="640080" y="132588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Equality and ranges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Q1, Q4, Q15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Pattern matching with LIKE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Q3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NULL checks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Q2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Lists and unique values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Q10, Q14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Date range for a decade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Q27</a:t>
            </a:r>
            <a:endParaRPr lang="en-US" sz="1400" dirty="0"/>
          </a:p>
        </p:txBody>
      </p:sp>
      <p:sp>
        <p:nvSpPr>
          <p:cNvPr id="5" name="Q4  Weight from 100 to 120 card"/>
          <p:cNvSpPr/>
          <p:nvPr/>
        </p:nvSpPr>
        <p:spPr>
          <a:xfrm>
            <a:off x="4114800" y="1188720"/>
            <a:ext cx="4572000" cy="1303020"/>
          </a:xfrm>
          <a:prstGeom prst="roundRect">
            <a:avLst>
              <a:gd name="adj" fmla="val 56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Q4  Weight from 100 to 120 label"/>
          <p:cNvSpPr txBox="1"/>
          <p:nvPr/>
        </p:nvSpPr>
        <p:spPr>
          <a:xfrm>
            <a:off x="4251960" y="12801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Q4  Weight from 100 to 120</a:t>
            </a:r>
            <a:endParaRPr lang="en-US" sz="1200" dirty="0"/>
          </a:p>
        </p:txBody>
      </p:sp>
      <p:sp>
        <p:nvSpPr>
          <p:cNvPr id="7" name="Q4  Weight from 100 to 120 code"/>
          <p:cNvSpPr txBox="1"/>
          <p:nvPr/>
        </p:nvSpPr>
        <p:spPr>
          <a:xfrm>
            <a:off x="4251960" y="1554480"/>
            <a:ext cx="4297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first_name, last_name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weight BETWEEN 100 AND 120;</a:t>
            </a:r>
            <a:endParaRPr lang="en-US" sz="1100" dirty="0"/>
          </a:p>
        </p:txBody>
      </p:sp>
      <p:sp>
        <p:nvSpPr>
          <p:cNvPr id="8" name="Q4  Weight from 100 to 120 note"/>
          <p:cNvSpPr txBox="1"/>
          <p:nvPr/>
        </p:nvSpPr>
        <p:spPr>
          <a:xfrm>
            <a:off x="4251960" y="215341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BETWEEN includes both end values.</a:t>
            </a:r>
            <a:endParaRPr lang="en-US" sz="1200" dirty="0"/>
          </a:p>
        </p:txBody>
      </p:sp>
      <p:sp>
        <p:nvSpPr>
          <p:cNvPr id="9" name="Q27  Born in the 1970s card"/>
          <p:cNvSpPr/>
          <p:nvPr/>
        </p:nvSpPr>
        <p:spPr>
          <a:xfrm>
            <a:off x="4114800" y="2720340"/>
            <a:ext cx="4572000" cy="1641348"/>
          </a:xfrm>
          <a:prstGeom prst="roundRect">
            <a:avLst>
              <a:gd name="adj" fmla="val 44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Q27  Born in the 1970s label"/>
          <p:cNvSpPr txBox="1"/>
          <p:nvPr/>
        </p:nvSpPr>
        <p:spPr>
          <a:xfrm>
            <a:off x="4251960" y="28117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Q27  Born in the 1970s</a:t>
            </a:r>
            <a:endParaRPr lang="en-US" sz="1200" dirty="0"/>
          </a:p>
        </p:txBody>
      </p:sp>
      <p:sp>
        <p:nvSpPr>
          <p:cNvPr id="11" name="Q27  Born in the 1970s code"/>
          <p:cNvSpPr txBox="1"/>
          <p:nvPr/>
        </p:nvSpPr>
        <p:spPr>
          <a:xfrm>
            <a:off x="4251960" y="3086100"/>
            <a:ext cx="42976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first_name, last_name, birth_date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birth_date &gt;= '1970-01-01'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birth_date &lt;  '1980-01-01'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birth_date ASC;</a:t>
            </a:r>
            <a:endParaRPr lang="en-US" sz="1100" dirty="0"/>
          </a:p>
        </p:txBody>
      </p:sp>
      <p:sp>
        <p:nvSpPr>
          <p:cNvPr id="12" name="Q27  Born in the 1970s note"/>
          <p:cNvSpPr txBox="1"/>
          <p:nvPr/>
        </p:nvSpPr>
        <p:spPr>
          <a:xfrm>
            <a:off x="4251960" y="40233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Half-open range covers the decade and stays index-friendly.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B. String and NULL Functions</a:t>
            </a:r>
            <a:endParaRPr lang="en-US" sz="3200" dirty="0"/>
          </a:p>
        </p:txBody>
      </p:sp>
      <p:sp>
        <p:nvSpPr>
          <p:cNvPr id="3" name="Q5  Replace NULL allergies card"/>
          <p:cNvSpPr/>
          <p:nvPr/>
        </p:nvSpPr>
        <p:spPr>
          <a:xfrm>
            <a:off x="457200" y="1188720"/>
            <a:ext cx="4023360" cy="1472184"/>
          </a:xfrm>
          <a:prstGeom prst="roundRect">
            <a:avLst>
              <a:gd name="adj" fmla="val 496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Q5  Replace NULL allergies label"/>
          <p:cNvSpPr txBox="1"/>
          <p:nvPr/>
        </p:nvSpPr>
        <p:spPr>
          <a:xfrm>
            <a:off x="594360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Q5  Replace NULL allergies</a:t>
            </a:r>
            <a:endParaRPr lang="en-US" sz="1200" dirty="0"/>
          </a:p>
        </p:txBody>
      </p:sp>
      <p:sp>
        <p:nvSpPr>
          <p:cNvPr id="5" name="Q5  Replace NULL allergies code"/>
          <p:cNvSpPr txBox="1"/>
          <p:nvPr/>
        </p:nvSpPr>
        <p:spPr>
          <a:xfrm>
            <a:off x="594360" y="1554480"/>
            <a:ext cx="37490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patient_id, first_name, last_name,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COALESCE(allergies, 'NKA') AS allergies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patients;</a:t>
            </a:r>
            <a:endParaRPr lang="en-US" sz="1100" dirty="0"/>
          </a:p>
        </p:txBody>
      </p:sp>
      <p:sp>
        <p:nvSpPr>
          <p:cNvPr id="6" name="Q5  Replace NULL allergies note"/>
          <p:cNvSpPr txBox="1"/>
          <p:nvPr/>
        </p:nvSpPr>
        <p:spPr>
          <a:xfrm>
            <a:off x="594360" y="21534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COALESCE returns the first non-NULL value.</a:t>
            </a:r>
            <a:endParaRPr lang="en-US" sz="1200" dirty="0"/>
          </a:p>
        </p:txBody>
      </p:sp>
      <p:sp>
        <p:nvSpPr>
          <p:cNvPr id="7" name="Q28  Format LAST,first card"/>
          <p:cNvSpPr/>
          <p:nvPr/>
        </p:nvSpPr>
        <p:spPr>
          <a:xfrm>
            <a:off x="4663440" y="1188720"/>
            <a:ext cx="4023360" cy="1472184"/>
          </a:xfrm>
          <a:prstGeom prst="roundRect">
            <a:avLst>
              <a:gd name="adj" fmla="val 496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Q28  Format LAST,first label"/>
          <p:cNvSpPr txBox="1"/>
          <p:nvPr/>
        </p:nvSpPr>
        <p:spPr>
          <a:xfrm>
            <a:off x="4800600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Q28  Format LAST,first</a:t>
            </a:r>
            <a:endParaRPr lang="en-US" sz="1200" dirty="0"/>
          </a:p>
        </p:txBody>
      </p:sp>
      <p:sp>
        <p:nvSpPr>
          <p:cNvPr id="9" name="Q28  Format LAST,first code"/>
          <p:cNvSpPr txBox="1"/>
          <p:nvPr/>
        </p:nvSpPr>
        <p:spPr>
          <a:xfrm>
            <a:off x="4800600" y="1554480"/>
            <a:ext cx="3749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CONCAT(UPPER(last_name), ',',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LOWER(first_name)) AS full_name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first_name DESC;</a:t>
            </a:r>
            <a:endParaRPr lang="en-US" sz="1100" dirty="0"/>
          </a:p>
        </p:txBody>
      </p:sp>
      <p:sp>
        <p:nvSpPr>
          <p:cNvPr id="10" name="Q28  Format LAST,first note"/>
          <p:cNvSpPr txBox="1"/>
          <p:nvPr/>
        </p:nvSpPr>
        <p:spPr>
          <a:xfrm>
            <a:off x="4800600" y="23225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UPPER, LOWER and CONCAT build the format.</a:t>
            </a:r>
            <a:endParaRPr lang="en-US" sz="1200" dirty="0"/>
          </a:p>
        </p:txBody>
      </p:sp>
      <p:sp>
        <p:nvSpPr>
          <p:cNvPr id="11" name="Q18  Starts and ends with s card"/>
          <p:cNvSpPr/>
          <p:nvPr/>
        </p:nvSpPr>
        <p:spPr>
          <a:xfrm>
            <a:off x="457200" y="2889504"/>
            <a:ext cx="4023360" cy="1472184"/>
          </a:xfrm>
          <a:prstGeom prst="roundRect">
            <a:avLst>
              <a:gd name="adj" fmla="val 496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Q18  Starts and ends with s label"/>
          <p:cNvSpPr txBox="1"/>
          <p:nvPr/>
        </p:nvSpPr>
        <p:spPr>
          <a:xfrm>
            <a:off x="594360" y="2980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Q18  Starts and ends with s</a:t>
            </a:r>
            <a:endParaRPr lang="en-US" sz="1200" dirty="0"/>
          </a:p>
        </p:txBody>
      </p:sp>
      <p:sp>
        <p:nvSpPr>
          <p:cNvPr id="13" name="Q18  Starts and ends with s code"/>
          <p:cNvSpPr txBox="1"/>
          <p:nvPr/>
        </p:nvSpPr>
        <p:spPr>
          <a:xfrm>
            <a:off x="594360" y="3255264"/>
            <a:ext cx="3749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patient_id, first_name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first_name LIKE 's%s'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LENGTH(first_name) &gt;= 6;</a:t>
            </a:r>
            <a:endParaRPr lang="en-US" sz="1100" dirty="0"/>
          </a:p>
        </p:txBody>
      </p:sp>
      <p:sp>
        <p:nvSpPr>
          <p:cNvPr id="14" name="Q18  Starts and ends with s note"/>
          <p:cNvSpPr txBox="1"/>
          <p:nvPr/>
        </p:nvSpPr>
        <p:spPr>
          <a:xfrm>
            <a:off x="594360" y="4023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LIKE for the letters, LENGTH for the size.</a:t>
            </a:r>
            <a:endParaRPr lang="en-US" sz="1200" dirty="0"/>
          </a:p>
        </p:txBody>
      </p:sp>
      <p:sp>
        <p:nvSpPr>
          <p:cNvPr id="15" name="Q20  Sort by length, then name card"/>
          <p:cNvSpPr/>
          <p:nvPr/>
        </p:nvSpPr>
        <p:spPr>
          <a:xfrm>
            <a:off x="4663440" y="2889504"/>
            <a:ext cx="4023360" cy="1472184"/>
          </a:xfrm>
          <a:prstGeom prst="roundRect">
            <a:avLst>
              <a:gd name="adj" fmla="val 496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Q20  Sort by length, then name label"/>
          <p:cNvSpPr txBox="1"/>
          <p:nvPr/>
        </p:nvSpPr>
        <p:spPr>
          <a:xfrm>
            <a:off x="4800600" y="2980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Q20  Sort by length, then name</a:t>
            </a:r>
            <a:endParaRPr lang="en-US" sz="1200" dirty="0"/>
          </a:p>
        </p:txBody>
      </p:sp>
      <p:sp>
        <p:nvSpPr>
          <p:cNvPr id="17" name="Q20  Sort by length, then name code"/>
          <p:cNvSpPr txBox="1"/>
          <p:nvPr/>
        </p:nvSpPr>
        <p:spPr>
          <a:xfrm>
            <a:off x="4800600" y="3255264"/>
            <a:ext cx="3749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first_name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LENGTH(first_name),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first_name;</a:t>
            </a:r>
            <a:endParaRPr lang="en-US" sz="1100" dirty="0"/>
          </a:p>
        </p:txBody>
      </p:sp>
      <p:sp>
        <p:nvSpPr>
          <p:cNvPr id="18" name="Q20  Sort by length, then name note"/>
          <p:cNvSpPr txBox="1"/>
          <p:nvPr/>
        </p:nvSpPr>
        <p:spPr>
          <a:xfrm>
            <a:off x="4800600" y="4023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Two sort keys break ties alphabetically.</a:t>
            </a:r>
            <a:endParaRPr lang="en-US" sz="1200" dirty="0"/>
          </a:p>
        </p:txBody>
      </p:sp>
      <p:sp>
        <p:nvSpPr>
          <p:cNvPr id="19" name="Q6 footnote"/>
          <p:cNvSpPr txBox="1"/>
          <p:nvPr/>
        </p:nvSpPr>
        <p:spPr>
          <a:xfrm>
            <a:off x="457200" y="4480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Q6 builds the full name the same way: CONCAT(first_name, ' ', last_name).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C. Joins and Set Operations</a:t>
            </a:r>
            <a:endParaRPr lang="en-US" sz="3200" dirty="0"/>
          </a:p>
        </p:txBody>
      </p:sp>
      <p:sp>
        <p:nvSpPr>
          <p:cNvPr id="3" name="patients box"/>
          <p:cNvSpPr/>
          <p:nvPr/>
        </p:nvSpPr>
        <p:spPr>
          <a:xfrm>
            <a:off x="457200" y="118872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atients text"/>
          <p:cNvSpPr txBox="1"/>
          <p:nvPr/>
        </p:nvSpPr>
        <p:spPr>
          <a:xfrm>
            <a:off x="45720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patients</a:t>
            </a:r>
            <a:endParaRPr lang="en-US" sz="1600" dirty="0"/>
          </a:p>
        </p:txBody>
      </p:sp>
      <p:sp>
        <p:nvSpPr>
          <p:cNvPr id="5" name="admissions box"/>
          <p:cNvSpPr/>
          <p:nvPr/>
        </p:nvSpPr>
        <p:spPr>
          <a:xfrm>
            <a:off x="3657600" y="118872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admissions text"/>
          <p:cNvSpPr txBox="1"/>
          <p:nvPr/>
        </p:nvSpPr>
        <p:spPr>
          <a:xfrm>
            <a:off x="365760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admissions</a:t>
            </a:r>
            <a:endParaRPr lang="en-US" sz="1600" dirty="0"/>
          </a:p>
        </p:txBody>
      </p:sp>
      <p:sp>
        <p:nvSpPr>
          <p:cNvPr id="7" name="doctors box"/>
          <p:cNvSpPr/>
          <p:nvPr/>
        </p:nvSpPr>
        <p:spPr>
          <a:xfrm>
            <a:off x="6858000" y="118872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doctors text"/>
          <p:cNvSpPr txBox="1"/>
          <p:nvPr/>
        </p:nvSpPr>
        <p:spPr>
          <a:xfrm>
            <a:off x="685800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doctors</a:t>
            </a:r>
            <a:endParaRPr lang="en-US" sz="1600" dirty="0"/>
          </a:p>
        </p:txBody>
      </p:sp>
      <p:sp>
        <p:nvSpPr>
          <p:cNvPr id="9" name="Join patients-admissions"/>
          <p:cNvSpPr/>
          <p:nvPr/>
        </p:nvSpPr>
        <p:spPr>
          <a:xfrm>
            <a:off x="2286000" y="1554480"/>
            <a:ext cx="1371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10" name="Join label 1"/>
          <p:cNvSpPr txBox="1"/>
          <p:nvPr/>
        </p:nvSpPr>
        <p:spPr>
          <a:xfrm>
            <a:off x="2286000" y="1261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patient_id</a:t>
            </a:r>
            <a:endParaRPr lang="en-US" sz="1000" dirty="0"/>
          </a:p>
        </p:txBody>
      </p:sp>
      <p:sp>
        <p:nvSpPr>
          <p:cNvPr id="11" name="Join admissions-doctors"/>
          <p:cNvSpPr/>
          <p:nvPr/>
        </p:nvSpPr>
        <p:spPr>
          <a:xfrm>
            <a:off x="5486400" y="1554480"/>
            <a:ext cx="1371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headEnd type="triangle"/>
            <a:tailEnd type="triangle"/>
          </a:ln>
        </p:spPr>
      </p:sp>
      <p:sp>
        <p:nvSpPr>
          <p:cNvPr id="12" name="Join label 2"/>
          <p:cNvSpPr txBox="1"/>
          <p:nvPr/>
        </p:nvSpPr>
        <p:spPr>
          <a:xfrm>
            <a:off x="5486400" y="1261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attending_doctor_id</a:t>
            </a:r>
            <a:endParaRPr lang="en-US" sz="1000" dirty="0"/>
          </a:p>
        </p:txBody>
      </p:sp>
      <p:sp>
        <p:nvSpPr>
          <p:cNvPr id="13" name="Q34  Epilepsy patients with Dr. Lisa card"/>
          <p:cNvSpPr/>
          <p:nvPr/>
        </p:nvSpPr>
        <p:spPr>
          <a:xfrm>
            <a:off x="457200" y="2194560"/>
            <a:ext cx="4846320" cy="1979676"/>
          </a:xfrm>
          <a:prstGeom prst="roundRect">
            <a:avLst>
              <a:gd name="adj" fmla="val 369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Q34  Epilepsy patients with Dr. Lisa label"/>
          <p:cNvSpPr txBox="1"/>
          <p:nvPr/>
        </p:nvSpPr>
        <p:spPr>
          <a:xfrm>
            <a:off x="594360" y="2286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Q34  Epilepsy patients with Dr. Lisa</a:t>
            </a:r>
            <a:endParaRPr lang="en-US" sz="1200" dirty="0"/>
          </a:p>
        </p:txBody>
      </p:sp>
      <p:sp>
        <p:nvSpPr>
          <p:cNvPr id="15" name="Q34  Epilepsy patients with Dr. Lisa code"/>
          <p:cNvSpPr txBox="1"/>
          <p:nvPr/>
        </p:nvSpPr>
        <p:spPr>
          <a:xfrm>
            <a:off x="594360" y="2560320"/>
            <a:ext cx="457200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p.patient_id, p.first_name, p.last_name,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d.speciality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 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admissions a ON p.patient_id = a.patient_id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doctors d ON a.attending_doctor_id = d.doctor_id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a.diagnosis = 'Epilepsy'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d.first_name = 'Lisa';</a:t>
            </a:r>
            <a:endParaRPr lang="en-US" sz="1100" dirty="0"/>
          </a:p>
        </p:txBody>
      </p:sp>
      <p:sp>
        <p:nvSpPr>
          <p:cNvPr id="16" name="Q34  Epilepsy patients with Dr. Lisa note"/>
          <p:cNvSpPr txBox="1"/>
          <p:nvPr/>
        </p:nvSpPr>
        <p:spPr>
          <a:xfrm>
            <a:off x="594360" y="38359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Three tables joined on their key columns.</a:t>
            </a:r>
            <a:endParaRPr lang="en-US" sz="1200" dirty="0"/>
          </a:p>
        </p:txBody>
      </p:sp>
      <p:sp>
        <p:nvSpPr>
          <p:cNvPr id="17" name="Also in this group card"/>
          <p:cNvSpPr/>
          <p:nvPr/>
        </p:nvSpPr>
        <p:spPr>
          <a:xfrm>
            <a:off x="5577840" y="2194560"/>
            <a:ext cx="3108960" cy="1984248"/>
          </a:xfrm>
          <a:prstGeom prst="roundRect">
            <a:avLst>
              <a:gd name="adj" fmla="val 36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Also in group text"/>
          <p:cNvSpPr txBox="1"/>
          <p:nvPr/>
        </p:nvSpPr>
        <p:spPr>
          <a:xfrm>
            <a:off x="5760720" y="2286000"/>
            <a:ext cx="274320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Also in this group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Q7: patients to province names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Q19: patients to Dementia admissions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Q25: UNION ALL with Patient and Doctor roles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D. Aggregate Functions</a:t>
            </a:r>
            <a:endParaRPr lang="en-US" sz="3200" dirty="0"/>
          </a:p>
        </p:txBody>
      </p:sp>
      <p:sp>
        <p:nvSpPr>
          <p:cNvPr id="3" name="Functions heading"/>
          <p:cNvSpPr txBox="1"/>
          <p:nvPr/>
        </p:nvSpPr>
        <p:spPr>
          <a:xfrm>
            <a:off x="45720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Functions used</a:t>
            </a:r>
            <a:endParaRPr lang="en-US" sz="1600" dirty="0"/>
          </a:p>
        </p:txBody>
      </p:sp>
      <p:sp>
        <p:nvSpPr>
          <p:cNvPr id="4" name="Pill COUNT"/>
          <p:cNvSpPr/>
          <p:nvPr/>
        </p:nvSpPr>
        <p:spPr>
          <a:xfrm>
            <a:off x="457200" y="1645920"/>
            <a:ext cx="28346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ill text COUNT"/>
          <p:cNvSpPr txBox="1"/>
          <p:nvPr/>
        </p:nvSpPr>
        <p:spPr>
          <a:xfrm>
            <a:off x="64008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COUNT 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Q8, Q11, Q13</a:t>
            </a:r>
            <a:endParaRPr lang="en-US" sz="1400" dirty="0"/>
          </a:p>
        </p:txBody>
      </p:sp>
      <p:sp>
        <p:nvSpPr>
          <p:cNvPr id="6" name="Pill Conditional SUM"/>
          <p:cNvSpPr/>
          <p:nvPr/>
        </p:nvSpPr>
        <p:spPr>
          <a:xfrm>
            <a:off x="457200" y="2331720"/>
            <a:ext cx="28346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ill text Conditional SUM"/>
          <p:cNvSpPr txBox="1"/>
          <p:nvPr/>
        </p:nvSpPr>
        <p:spPr>
          <a:xfrm>
            <a:off x="64008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Conditional SUM 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Q21, Q22</a:t>
            </a:r>
            <a:endParaRPr lang="en-US" sz="1400" dirty="0"/>
          </a:p>
        </p:txBody>
      </p:sp>
      <p:sp>
        <p:nvSpPr>
          <p:cNvPr id="8" name="Pill MAX and MIN"/>
          <p:cNvSpPr/>
          <p:nvPr/>
        </p:nvSpPr>
        <p:spPr>
          <a:xfrm>
            <a:off x="457200" y="3017520"/>
            <a:ext cx="28346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ill text MAX and MIN"/>
          <p:cNvSpPr txBox="1"/>
          <p:nvPr/>
        </p:nvSpPr>
        <p:spPr>
          <a:xfrm>
            <a:off x="640080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MAX and MIN 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Q9, Q30</a:t>
            </a:r>
            <a:endParaRPr lang="en-US" sz="1400" dirty="0"/>
          </a:p>
        </p:txBody>
      </p:sp>
      <p:sp>
        <p:nvSpPr>
          <p:cNvPr id="10" name="Pill Subquery"/>
          <p:cNvSpPr/>
          <p:nvPr/>
        </p:nvSpPr>
        <p:spPr>
          <a:xfrm>
            <a:off x="457200" y="3703320"/>
            <a:ext cx="28346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ill text Subquery"/>
          <p:cNvSpPr txBox="1"/>
          <p:nvPr/>
        </p:nvSpPr>
        <p:spPr>
          <a:xfrm>
            <a:off x="640080" y="3703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Subquery 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Q9</a:t>
            </a:r>
            <a:endParaRPr lang="en-US" sz="1400" dirty="0"/>
          </a:p>
        </p:txBody>
      </p:sp>
      <p:sp>
        <p:nvSpPr>
          <p:cNvPr id="12" name="Q9  Patient with the greatest height card"/>
          <p:cNvSpPr/>
          <p:nvPr/>
        </p:nvSpPr>
        <p:spPr>
          <a:xfrm>
            <a:off x="3566160" y="1188720"/>
            <a:ext cx="5120640" cy="1303020"/>
          </a:xfrm>
          <a:prstGeom prst="roundRect">
            <a:avLst>
              <a:gd name="adj" fmla="val 56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Q9  Patient with the greatest height label"/>
          <p:cNvSpPr txBox="1"/>
          <p:nvPr/>
        </p:nvSpPr>
        <p:spPr>
          <a:xfrm>
            <a:off x="3703320" y="12801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Q9  Patient with the greatest height</a:t>
            </a:r>
            <a:endParaRPr lang="en-US" sz="1200" dirty="0"/>
          </a:p>
        </p:txBody>
      </p:sp>
      <p:sp>
        <p:nvSpPr>
          <p:cNvPr id="14" name="Q9  Patient with the greatest height code"/>
          <p:cNvSpPr txBox="1"/>
          <p:nvPr/>
        </p:nvSpPr>
        <p:spPr>
          <a:xfrm>
            <a:off x="3703320" y="1554480"/>
            <a:ext cx="48463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first_name, last_name, height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height = (SELECT MAX(height) FROM patients);</a:t>
            </a:r>
            <a:endParaRPr lang="en-US" sz="1100" dirty="0"/>
          </a:p>
        </p:txBody>
      </p:sp>
      <p:sp>
        <p:nvSpPr>
          <p:cNvPr id="15" name="Q9  Patient with the greatest height note"/>
          <p:cNvSpPr txBox="1"/>
          <p:nvPr/>
        </p:nvSpPr>
        <p:spPr>
          <a:xfrm>
            <a:off x="3703320" y="215341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The subquery finds the maximum; ties are all returned.</a:t>
            </a:r>
            <a:endParaRPr lang="en-US" sz="1200" dirty="0"/>
          </a:p>
        </p:txBody>
      </p:sp>
      <p:sp>
        <p:nvSpPr>
          <p:cNvPr id="16" name="Q21 and Q22  Male and female totals in one row card"/>
          <p:cNvSpPr/>
          <p:nvPr/>
        </p:nvSpPr>
        <p:spPr>
          <a:xfrm>
            <a:off x="3566160" y="2720340"/>
            <a:ext cx="5120640" cy="1303020"/>
          </a:xfrm>
          <a:prstGeom prst="roundRect">
            <a:avLst>
              <a:gd name="adj" fmla="val 56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Q21 and Q22  Male and female totals in one row label"/>
          <p:cNvSpPr txBox="1"/>
          <p:nvPr/>
        </p:nvSpPr>
        <p:spPr>
          <a:xfrm>
            <a:off x="3703320" y="28117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Q21 and Q22  Male and female totals in one row</a:t>
            </a:r>
            <a:endParaRPr lang="en-US" sz="1200" dirty="0"/>
          </a:p>
        </p:txBody>
      </p:sp>
      <p:sp>
        <p:nvSpPr>
          <p:cNvPr id="18" name="Q21 and Q22  Male and female totals in one row code"/>
          <p:cNvSpPr txBox="1"/>
          <p:nvPr/>
        </p:nvSpPr>
        <p:spPr>
          <a:xfrm>
            <a:off x="3703320" y="3086100"/>
            <a:ext cx="48463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SUM(gender = 'M') AS male_patients,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SUM(gender = 'F') AS female_patients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patients;</a:t>
            </a:r>
            <a:endParaRPr lang="en-US" sz="1100" dirty="0"/>
          </a:p>
        </p:txBody>
      </p:sp>
      <p:sp>
        <p:nvSpPr>
          <p:cNvPr id="19" name="Q21 and Q22  Male and female totals in one row note"/>
          <p:cNvSpPr txBox="1"/>
          <p:nvPr/>
        </p:nvSpPr>
        <p:spPr>
          <a:xfrm>
            <a:off x="3703320" y="368503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 true comparison is 1, so SUM counts the matches.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E. GROUP BY and HAVING</a:t>
            </a:r>
            <a:endParaRPr lang="en-US" sz="3200" dirty="0"/>
          </a:p>
        </p:txBody>
      </p:sp>
      <p:sp>
        <p:nvSpPr>
          <p:cNvPr id="3" name="Flow box 1"/>
          <p:cNvSpPr/>
          <p:nvPr/>
        </p:nvSpPr>
        <p:spPr>
          <a:xfrm>
            <a:off x="457200" y="1188720"/>
            <a:ext cx="246888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ow text 1"/>
          <p:cNvSpPr txBox="1"/>
          <p:nvPr/>
        </p:nvSpPr>
        <p:spPr>
          <a:xfrm>
            <a:off x="45720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WHERE filters rows</a:t>
            </a:r>
            <a:endParaRPr lang="en-US" sz="1400" dirty="0"/>
          </a:p>
        </p:txBody>
      </p:sp>
      <p:sp>
        <p:nvSpPr>
          <p:cNvPr id="5" name="Flow arrow 1"/>
          <p:cNvSpPr/>
          <p:nvPr/>
        </p:nvSpPr>
        <p:spPr>
          <a:xfrm>
            <a:off x="2971800" y="146304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Flow box 2"/>
          <p:cNvSpPr/>
          <p:nvPr/>
        </p:nvSpPr>
        <p:spPr>
          <a:xfrm>
            <a:off x="3337560" y="1188720"/>
            <a:ext cx="2468880" cy="54864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Flow text 2"/>
          <p:cNvSpPr txBox="1"/>
          <p:nvPr/>
        </p:nvSpPr>
        <p:spPr>
          <a:xfrm>
            <a:off x="333756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GROUP BY forms groups</a:t>
            </a:r>
            <a:endParaRPr lang="en-US" sz="1400" dirty="0"/>
          </a:p>
        </p:txBody>
      </p:sp>
      <p:sp>
        <p:nvSpPr>
          <p:cNvPr id="8" name="Flow arrow 2"/>
          <p:cNvSpPr/>
          <p:nvPr/>
        </p:nvSpPr>
        <p:spPr>
          <a:xfrm>
            <a:off x="5852160" y="1463040"/>
            <a:ext cx="3200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Flow box 3"/>
          <p:cNvSpPr/>
          <p:nvPr/>
        </p:nvSpPr>
        <p:spPr>
          <a:xfrm>
            <a:off x="6217920" y="1188720"/>
            <a:ext cx="246888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Flow text 3"/>
          <p:cNvSpPr txBox="1"/>
          <p:nvPr/>
        </p:nvSpPr>
        <p:spPr>
          <a:xfrm>
            <a:off x="62179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HAVING filters groups</a:t>
            </a:r>
            <a:endParaRPr lang="en-US" sz="1400" dirty="0"/>
          </a:p>
        </p:txBody>
      </p:sp>
      <p:sp>
        <p:nvSpPr>
          <p:cNvPr id="11" name="Q23  Repeat diagnoses card"/>
          <p:cNvSpPr/>
          <p:nvPr/>
        </p:nvSpPr>
        <p:spPr>
          <a:xfrm>
            <a:off x="457200" y="1965960"/>
            <a:ext cx="4023360" cy="1810512"/>
          </a:xfrm>
          <a:prstGeom prst="roundRect">
            <a:avLst>
              <a:gd name="adj" fmla="val 404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Q23  Repeat diagnoses label"/>
          <p:cNvSpPr txBox="1"/>
          <p:nvPr/>
        </p:nvSpPr>
        <p:spPr>
          <a:xfrm>
            <a:off x="594360" y="2057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Q23  Repeat diagnoses</a:t>
            </a:r>
            <a:endParaRPr lang="en-US" sz="1200" dirty="0"/>
          </a:p>
        </p:txBody>
      </p:sp>
      <p:sp>
        <p:nvSpPr>
          <p:cNvPr id="13" name="Q23  Repeat diagnoses code"/>
          <p:cNvSpPr txBox="1"/>
          <p:nvPr/>
        </p:nvSpPr>
        <p:spPr>
          <a:xfrm>
            <a:off x="594360" y="2331720"/>
            <a:ext cx="37490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patient_id, diagnosis,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total_admissions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admissions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patient_id, diagnosis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COUNT(*) &gt; 1;</a:t>
            </a:r>
            <a:endParaRPr lang="en-US" sz="1100" dirty="0"/>
          </a:p>
        </p:txBody>
      </p:sp>
      <p:sp>
        <p:nvSpPr>
          <p:cNvPr id="14" name="Q23  Repeat diagnoses note"/>
          <p:cNvSpPr txBox="1"/>
          <p:nvPr/>
        </p:nvSpPr>
        <p:spPr>
          <a:xfrm>
            <a:off x="594360" y="32689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Two grouping columns expose repeat admissions.</a:t>
            </a:r>
            <a:endParaRPr lang="en-US" sz="1200" dirty="0"/>
          </a:p>
        </p:txBody>
      </p:sp>
      <p:sp>
        <p:nvSpPr>
          <p:cNvPr id="15" name="Q32  Weight groups card"/>
          <p:cNvSpPr/>
          <p:nvPr/>
        </p:nvSpPr>
        <p:spPr>
          <a:xfrm>
            <a:off x="4663440" y="1965960"/>
            <a:ext cx="4023360" cy="1810512"/>
          </a:xfrm>
          <a:prstGeom prst="roundRect">
            <a:avLst>
              <a:gd name="adj" fmla="val 404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Q32  Weight groups label"/>
          <p:cNvSpPr txBox="1"/>
          <p:nvPr/>
        </p:nvSpPr>
        <p:spPr>
          <a:xfrm>
            <a:off x="4800600" y="2057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Q32  Weight groups</a:t>
            </a:r>
            <a:endParaRPr lang="en-US" sz="1200" dirty="0"/>
          </a:p>
        </p:txBody>
      </p:sp>
      <p:sp>
        <p:nvSpPr>
          <p:cNvPr id="17" name="Q32  Weight groups code"/>
          <p:cNvSpPr txBox="1"/>
          <p:nvPr/>
        </p:nvSpPr>
        <p:spPr>
          <a:xfrm>
            <a:off x="4800600" y="2331720"/>
            <a:ext cx="37490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FLOOR(weight / 10) * 10 AS weight_group,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total_patients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FLOOR(weight / 10) *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weight_group DESC;</a:t>
            </a:r>
            <a:endParaRPr lang="en-US" sz="1100" dirty="0"/>
          </a:p>
        </p:txBody>
      </p:sp>
      <p:sp>
        <p:nvSpPr>
          <p:cNvPr id="18" name="Q32  Weight groups note"/>
          <p:cNvSpPr txBox="1"/>
          <p:nvPr/>
        </p:nvSpPr>
        <p:spPr>
          <a:xfrm>
            <a:off x="480060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Round down to the nearest 10 to form groups.</a:t>
            </a:r>
            <a:endParaRPr lang="en-US" sz="1200" dirty="0"/>
          </a:p>
        </p:txBody>
      </p:sp>
      <p:sp>
        <p:nvSpPr>
          <p:cNvPr id="19" name="Also in group footnote"/>
          <p:cNvSpPr txBox="1"/>
          <p:nvPr/>
        </p:nvSpPr>
        <p:spPr>
          <a:xfrm>
            <a:off x="457200" y="39776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Also in this group: Q17 unique names, Q24 patients per city, Q26 allergy ranking, Q29 height totals by province, Q31 admissions per 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F. Date Logic and Derived Values</a:t>
            </a:r>
            <a:endParaRPr lang="en-US" sz="3200" dirty="0"/>
          </a:p>
        </p:txBody>
      </p:sp>
      <p:sp>
        <p:nvSpPr>
          <p:cNvPr id="3" name="BMI card"/>
          <p:cNvSpPr/>
          <p:nvPr/>
        </p:nvSpPr>
        <p:spPr>
          <a:xfrm>
            <a:off x="457200" y="1188720"/>
            <a:ext cx="3840480" cy="3355848"/>
          </a:xfrm>
          <a:prstGeom prst="roundRect">
            <a:avLst>
              <a:gd name="adj" fmla="val 21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MI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BMI icon" descr="BM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1525219"/>
            <a:ext cx="241402" cy="241402"/>
          </a:xfrm>
          <a:prstGeom prst="rect">
            <a:avLst/>
          </a:prstGeom>
        </p:spPr>
      </p:pic>
      <p:sp>
        <p:nvSpPr>
          <p:cNvPr id="6" name="BMI formula"/>
          <p:cNvSpPr txBox="1"/>
          <p:nvPr/>
        </p:nvSpPr>
        <p:spPr>
          <a:xfrm>
            <a:off x="640080" y="2057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BMI = weight (kg) / height (m)²</a:t>
            </a:r>
            <a:endParaRPr lang="en-US" sz="2000" dirty="0"/>
          </a:p>
        </p:txBody>
      </p:sp>
      <p:sp>
        <p:nvSpPr>
          <p:cNvPr id="7" name="BMI note"/>
          <p:cNvSpPr txBox="1"/>
          <p:nvPr/>
        </p:nvSpPr>
        <p:spPr>
          <a:xfrm>
            <a:off x="640080" y="2788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Height is stored in cm, so it is divided by 100 first.</a:t>
            </a:r>
            <a:endParaRPr lang="en-US" sz="1400" dirty="0"/>
          </a:p>
        </p:txBody>
      </p:sp>
      <p:sp>
        <p:nvSpPr>
          <p:cNvPr id="8" name="BMI rule"/>
          <p:cNvSpPr txBox="1"/>
          <p:nvPr/>
        </p:nvSpPr>
        <p:spPr>
          <a:xfrm>
            <a:off x="64008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BMI of 30 or more gives isObese = 1</a:t>
            </a:r>
            <a:endParaRPr lang="en-US" sz="1600" dirty="0"/>
          </a:p>
        </p:txBody>
      </p:sp>
      <p:sp>
        <p:nvSpPr>
          <p:cNvPr id="9" name="Q16 footnote"/>
          <p:cNvSpPr txBox="1"/>
          <p:nvPr/>
        </p:nvSpPr>
        <p:spPr>
          <a:xfrm>
            <a:off x="640080" y="4023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Also Q16: unique birth years with DISTINCT YEAR().</a:t>
            </a:r>
            <a:endParaRPr lang="en-US" sz="1200" dirty="0"/>
          </a:p>
        </p:txBody>
      </p:sp>
      <p:sp>
        <p:nvSpPr>
          <p:cNvPr id="10" name="Q33  Obesity flag card"/>
          <p:cNvSpPr/>
          <p:nvPr/>
        </p:nvSpPr>
        <p:spPr>
          <a:xfrm>
            <a:off x="4572000" y="1188720"/>
            <a:ext cx="4114800" cy="1472184"/>
          </a:xfrm>
          <a:prstGeom prst="roundRect">
            <a:avLst>
              <a:gd name="adj" fmla="val 496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Q33  Obesity flag label"/>
          <p:cNvSpPr txBox="1"/>
          <p:nvPr/>
        </p:nvSpPr>
        <p:spPr>
          <a:xfrm>
            <a:off x="4709160" y="1280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Q33  Obesity flag</a:t>
            </a:r>
            <a:endParaRPr lang="en-US" sz="1200" dirty="0"/>
          </a:p>
        </p:txBody>
      </p:sp>
      <p:sp>
        <p:nvSpPr>
          <p:cNvPr id="12" name="Q33  Obesity flag code"/>
          <p:cNvSpPr txBox="1"/>
          <p:nvPr/>
        </p:nvSpPr>
        <p:spPr>
          <a:xfrm>
            <a:off x="4709160" y="1554480"/>
            <a:ext cx="3840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patient_id, weight, height,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(weight / POWER(height / 100.0, 2) &gt;= 30)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isObese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patients;</a:t>
            </a:r>
            <a:endParaRPr lang="en-US" sz="1100" dirty="0"/>
          </a:p>
        </p:txBody>
      </p:sp>
      <p:sp>
        <p:nvSpPr>
          <p:cNvPr id="13" name="Q33  Obesity flag note"/>
          <p:cNvSpPr txBox="1"/>
          <p:nvPr/>
        </p:nvSpPr>
        <p:spPr>
          <a:xfrm>
            <a:off x="4709160" y="23225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 comparison returns 1 or 0.</a:t>
            </a:r>
            <a:endParaRPr lang="en-US" sz="1200" dirty="0"/>
          </a:p>
        </p:txBody>
      </p:sp>
      <p:sp>
        <p:nvSpPr>
          <p:cNvPr id="14" name="Q12  Same-day admit and discharge card"/>
          <p:cNvSpPr/>
          <p:nvPr/>
        </p:nvSpPr>
        <p:spPr>
          <a:xfrm>
            <a:off x="4572000" y="2889504"/>
            <a:ext cx="4114800" cy="1303020"/>
          </a:xfrm>
          <a:prstGeom prst="roundRect">
            <a:avLst>
              <a:gd name="adj" fmla="val 56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Q12  Same-day admit and discharge label"/>
          <p:cNvSpPr txBox="1"/>
          <p:nvPr/>
        </p:nvSpPr>
        <p:spPr>
          <a:xfrm>
            <a:off x="4709160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Q12  Same-day admit and discharge</a:t>
            </a:r>
            <a:endParaRPr lang="en-US" sz="1200" dirty="0"/>
          </a:p>
        </p:txBody>
      </p:sp>
      <p:sp>
        <p:nvSpPr>
          <p:cNvPr id="16" name="Q12  Same-day admit and discharge code"/>
          <p:cNvSpPr txBox="1"/>
          <p:nvPr/>
        </p:nvSpPr>
        <p:spPr>
          <a:xfrm>
            <a:off x="4709160" y="3255264"/>
            <a:ext cx="38404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admissions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admission_date = discharge_date;</a:t>
            </a:r>
            <a:endParaRPr lang="en-US" sz="1100" dirty="0"/>
          </a:p>
        </p:txBody>
      </p:sp>
      <p:sp>
        <p:nvSpPr>
          <p:cNvPr id="17" name="Q12  Same-day admit and discharge note"/>
          <p:cNvSpPr txBox="1"/>
          <p:nvPr/>
        </p:nvSpPr>
        <p:spPr>
          <a:xfrm>
            <a:off x="4709160" y="38541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Compares two date columns directly.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SQL Concepts Covered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otal card 1"/>
          <p:cNvSpPr/>
          <p:nvPr/>
        </p:nvSpPr>
        <p:spPr>
          <a:xfrm>
            <a:off x="6309360" y="1188720"/>
            <a:ext cx="23774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otal value 1"/>
          <p:cNvSpPr txBox="1"/>
          <p:nvPr/>
        </p:nvSpPr>
        <p:spPr>
          <a:xfrm>
            <a:off x="6492240" y="1325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33</a:t>
            </a:r>
            <a:endParaRPr lang="en-US" sz="5400" dirty="0"/>
          </a:p>
        </p:txBody>
      </p:sp>
      <p:sp>
        <p:nvSpPr>
          <p:cNvPr id="6" name="Total label 1"/>
          <p:cNvSpPr txBox="1"/>
          <p:nvPr/>
        </p:nvSpPr>
        <p:spPr>
          <a:xfrm>
            <a:off x="6492240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queries in total</a:t>
            </a:r>
            <a:endParaRPr lang="en-US" sz="1400" dirty="0"/>
          </a:p>
        </p:txBody>
      </p:sp>
      <p:sp>
        <p:nvSpPr>
          <p:cNvPr id="7" name="Total card 2"/>
          <p:cNvSpPr/>
          <p:nvPr/>
        </p:nvSpPr>
        <p:spPr>
          <a:xfrm>
            <a:off x="6309360" y="3017520"/>
            <a:ext cx="23774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otal value 2"/>
          <p:cNvSpPr txBox="1"/>
          <p:nvPr/>
        </p:nvSpPr>
        <p:spPr>
          <a:xfrm>
            <a:off x="649224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6</a:t>
            </a:r>
            <a:endParaRPr lang="en-US" sz="5400" dirty="0"/>
          </a:p>
        </p:txBody>
      </p:sp>
      <p:sp>
        <p:nvSpPr>
          <p:cNvPr id="9" name="Total label 2"/>
          <p:cNvSpPr txBox="1"/>
          <p:nvPr/>
        </p:nvSpPr>
        <p:spPr>
          <a:xfrm>
            <a:off x="649224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concept groups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Observations and Fixes</a:t>
            </a:r>
            <a:endParaRPr lang="en-US" sz="3200" dirty="0"/>
          </a:p>
        </p:txBody>
      </p:sp>
      <p:sp>
        <p:nvSpPr>
          <p:cNvPr id="3" name="Observation card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bservation 1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Observation 1 icon" descr="Observati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1525219"/>
            <a:ext cx="241402" cy="241402"/>
          </a:xfrm>
          <a:prstGeom prst="rect">
            <a:avLst/>
          </a:prstGeom>
        </p:spPr>
      </p:pic>
      <p:sp>
        <p:nvSpPr>
          <p:cNvPr id="6" name="Observation text 1"/>
          <p:cNvSpPr txBox="1"/>
          <p:nvPr/>
        </p:nvSpPr>
        <p:spPr>
          <a:xfrm>
            <a:off x="1371600" y="129844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Q5 is a SELECT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brief asks for an UPDATE. Run UPDATE patients SET allergies = 'NKA' to change stored data.</a:t>
            </a:r>
            <a:endParaRPr lang="en-US" sz="1600" dirty="0"/>
          </a:p>
        </p:txBody>
      </p:sp>
      <p:sp>
        <p:nvSpPr>
          <p:cNvPr id="7" name="Observation card 2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Observation 2 circle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Observation 2 icon" descr="Observati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939" y="1525219"/>
            <a:ext cx="241402" cy="241402"/>
          </a:xfrm>
          <a:prstGeom prst="rect">
            <a:avLst/>
          </a:prstGeom>
        </p:spPr>
      </p:pic>
      <p:sp>
        <p:nvSpPr>
          <p:cNvPr id="10" name="Observation text 2"/>
          <p:cNvSpPr txBox="1"/>
          <p:nvPr/>
        </p:nvSpPr>
        <p:spPr>
          <a:xfrm>
            <a:off x="5577840" y="129844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Check column spelling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schema names it speciality. A mismatch in Q34 gives an unknown column error.</a:t>
            </a:r>
            <a:endParaRPr lang="en-US" sz="1600" dirty="0"/>
          </a:p>
        </p:txBody>
      </p:sp>
      <p:sp>
        <p:nvSpPr>
          <p:cNvPr id="11" name="Observation card 3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Observation 3 circle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Observation 3 icon" descr="Observati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3308299"/>
            <a:ext cx="241402" cy="241402"/>
          </a:xfrm>
          <a:prstGeom prst="rect">
            <a:avLst/>
          </a:prstGeom>
        </p:spPr>
      </p:pic>
      <p:sp>
        <p:nvSpPr>
          <p:cNvPr id="14" name="Observation text 3"/>
          <p:cNvSpPr txBox="1"/>
          <p:nvPr/>
        </p:nvSpPr>
        <p:spPr>
          <a:xfrm>
            <a:off x="1371600" y="308152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Watch for NULLs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NULL weight or height makes the Q32 group and Q33 flag NULL.</a:t>
            </a:r>
            <a:endParaRPr lang="en-US" sz="1600" dirty="0"/>
          </a:p>
        </p:txBody>
      </p:sp>
      <p:sp>
        <p:nvSpPr>
          <p:cNvPr id="15" name="Observation card 4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Observation 4 circle"/>
          <p:cNvSpPr/>
          <p:nvPr/>
        </p:nvSpPr>
        <p:spPr>
          <a:xfrm>
            <a:off x="4846320" y="3154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Observation 4 icon" descr="Observati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939" y="3308299"/>
            <a:ext cx="241402" cy="241402"/>
          </a:xfrm>
          <a:prstGeom prst="rect">
            <a:avLst/>
          </a:prstGeom>
        </p:spPr>
      </p:pic>
      <p:sp>
        <p:nvSpPr>
          <p:cNvPr id="18" name="Observation text 4"/>
          <p:cNvSpPr txBox="1"/>
          <p:nvPr/>
        </p:nvSpPr>
        <p:spPr>
          <a:xfrm>
            <a:off x="5577840" y="308152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Q31 skips empty days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Only days with admissions appear. Join a day calendar to show all 31.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akeaway 1 circle"/>
          <p:cNvSpPr/>
          <p:nvPr/>
        </p:nvSpPr>
        <p:spPr>
          <a:xfrm>
            <a:off x="457200" y="12801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akeaway 1 icon" descr="Takeaway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6" y="1484986"/>
            <a:ext cx="321869" cy="321869"/>
          </a:xfrm>
          <a:prstGeom prst="rect">
            <a:avLst/>
          </a:prstGeom>
        </p:spPr>
      </p:pic>
      <p:sp>
        <p:nvSpPr>
          <p:cNvPr id="5" name="Takeaway text 1"/>
          <p:cNvSpPr txBox="1"/>
          <p:nvPr/>
        </p:nvSpPr>
        <p:spPr>
          <a:xfrm>
            <a:off x="1463040" y="12801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Right clause for the job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WHERE filters rows and HAVING filters groups.</a:t>
            </a:r>
            <a:endParaRPr lang="en-US" sz="2000" dirty="0"/>
          </a:p>
        </p:txBody>
      </p:sp>
      <p:sp>
        <p:nvSpPr>
          <p:cNvPr id="6" name="Takeaway 2 circle"/>
          <p:cNvSpPr/>
          <p:nvPr/>
        </p:nvSpPr>
        <p:spPr>
          <a:xfrm>
            <a:off x="457200" y="23774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Takeaway 2 icon" descr="Takeaway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6" y="2582266"/>
            <a:ext cx="321869" cy="321869"/>
          </a:xfrm>
          <a:prstGeom prst="rect">
            <a:avLst/>
          </a:prstGeom>
        </p:spPr>
      </p:pic>
      <p:sp>
        <p:nvSpPr>
          <p:cNvPr id="8" name="Takeaway text 2"/>
          <p:cNvSpPr txBox="1"/>
          <p:nvPr/>
        </p:nvSpPr>
        <p:spPr>
          <a:xfrm>
            <a:off x="1463040" y="2377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Careful NULL handling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IS NULL and COALESCE keep missing data from skewing results.</a:t>
            </a:r>
            <a:endParaRPr lang="en-US" sz="2000" dirty="0"/>
          </a:p>
        </p:txBody>
      </p:sp>
      <p:sp>
        <p:nvSpPr>
          <p:cNvPr id="9" name="Takeaway 3 circle"/>
          <p:cNvSpPr/>
          <p:nvPr/>
        </p:nvSpPr>
        <p:spPr>
          <a:xfrm>
            <a:off x="457200" y="34747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Takeaway 3 icon" descr="Takeaway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6" y="3679546"/>
            <a:ext cx="321869" cy="321869"/>
          </a:xfrm>
          <a:prstGeom prst="rect">
            <a:avLst/>
          </a:prstGeom>
        </p:spPr>
      </p:pic>
      <p:sp>
        <p:nvSpPr>
          <p:cNvPr id="11" name="Takeaway text 3"/>
          <p:cNvSpPr txBox="1"/>
          <p:nvPr/>
        </p:nvSpPr>
        <p:spPr>
          <a:xfrm>
            <a:off x="1463040" y="34747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Joins on the right keys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Patients, admissions, doctors and provinces connect cleanly.</a:t>
            </a:r>
            <a:endParaRPr lang="en-US" sz="2000" dirty="0"/>
          </a:p>
        </p:txBody>
      </p:sp>
      <p:sp>
        <p:nvSpPr>
          <p:cNvPr id="12" name="Closing line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33 queries, 6 concept groups, 4 tables.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cal Data History">
  <a:themeElements>
    <a:clrScheme name="Medical Data History">
      <a:dk1>
        <a:srgbClr val="0B2F3A"/>
      </a:dk1>
      <a:lt1>
        <a:srgbClr val="FFFFFF"/>
      </a:lt1>
      <a:dk2>
        <a:srgbClr val="0E7C86"/>
      </a:dk2>
      <a:lt2>
        <a:srgbClr val="E8F4F2"/>
      </a:lt2>
      <a:accent1>
        <a:srgbClr val="0E7C86"/>
      </a:accent1>
      <a:accent2>
        <a:srgbClr val="F26B5B"/>
      </a:accent2>
      <a:accent3>
        <a:srgbClr val="5FB3A8"/>
      </a:accent3>
      <a:accent4>
        <a:srgbClr val="F2B84B"/>
      </a:accent4>
      <a:accent5>
        <a:srgbClr val="3C6E91"/>
      </a:accent5>
      <a:accent6>
        <a:srgbClr val="6B8A92"/>
      </a:accent6>
      <a:hlink>
        <a:srgbClr val="0E7C86"/>
      </a:hlink>
      <a:folHlink>
        <a:srgbClr val="6B8A92"/>
      </a:folHlink>
    </a:clrScheme>
    <a:fontScheme name="Medical Data Histo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Data History: SQL Project</dc:title>
  <dc:subject>PptxGenJS Presentation</dc:subject>
  <dc:creator>PptxGenJS</dc:creator>
  <cp:lastModifiedBy>PptxGenJS</cp:lastModifiedBy>
  <cp:revision>1</cp:revision>
  <dcterms:created xsi:type="dcterms:W3CDTF">2026-10-22T12:35:28Z</dcterms:created>
  <dcterms:modified xsi:type="dcterms:W3CDTF">2026-10-22T12:35:28Z</dcterms:modified>
</cp:coreProperties>
</file>